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B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SELF-DIRECTED DESIGN EXERCISE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41732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Weapon Balance in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Rock Galactic</a:t>
            </a:r>
            <a:endParaRPr lang="en-US" sz="4000" dirty="0"/>
          </a:p>
        </p:txBody>
      </p:sp>
      <p:pic>
        <p:nvPicPr>
          <p:cNvPr id="4" name="Image 0" descr="img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94192" y="1627632"/>
            <a:ext cx="315468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2918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24 weapons' published stats can and can't tell you about which options are matched fairly, and what I'd do about the one that isn't.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40080" y="4572000"/>
            <a:ext cx="2468880" cy="1234440"/>
          </a:xfrm>
          <a:prstGeom prst="roundRect">
            <a:avLst>
              <a:gd name="adj" fmla="val 6667"/>
            </a:avLst>
          </a:prstGeom>
          <a:solidFill>
            <a:srgbClr val="1E232C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6112" y="4901184"/>
            <a:ext cx="566928" cy="566928"/>
          </a:xfrm>
          <a:prstGeom prst="ellipse">
            <a:avLst/>
          </a:prstGeom>
          <a:solidFill>
            <a:srgbClr val="E0A52E"/>
          </a:solidFill>
          <a:ln/>
        </p:spPr>
      </p:sp>
      <p:pic>
        <p:nvPicPr>
          <p:cNvPr id="8" name="Image 1" descr="img/p_drill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47136" y="4952208"/>
            <a:ext cx="464881" cy="464881"/>
          </a:xfrm>
          <a:prstGeom prst="ellipse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457200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Driller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444240" y="4572000"/>
            <a:ext cx="2468880" cy="1234440"/>
          </a:xfrm>
          <a:prstGeom prst="roundRect">
            <a:avLst>
              <a:gd name="adj" fmla="val 6667"/>
            </a:avLst>
          </a:prstGeom>
          <a:solidFill>
            <a:srgbClr val="1E232C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700272" y="4901184"/>
            <a:ext cx="566928" cy="566928"/>
          </a:xfrm>
          <a:prstGeom prst="ellipse">
            <a:avLst/>
          </a:prstGeom>
          <a:solidFill>
            <a:srgbClr val="E0594B"/>
          </a:solidFill>
          <a:ln/>
        </p:spPr>
      </p:sp>
      <p:pic>
        <p:nvPicPr>
          <p:cNvPr id="12" name="Image 2" descr="img/p_engine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51296" y="4952208"/>
            <a:ext cx="464881" cy="464881"/>
          </a:xfrm>
          <a:prstGeom prst="ellipse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358640" y="457200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248400" y="4572000"/>
            <a:ext cx="2468880" cy="1234440"/>
          </a:xfrm>
          <a:prstGeom prst="roundRect">
            <a:avLst>
              <a:gd name="adj" fmla="val 6667"/>
            </a:avLst>
          </a:prstGeom>
          <a:solidFill>
            <a:srgbClr val="1E232C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504432" y="4901184"/>
            <a:ext cx="566928" cy="566928"/>
          </a:xfrm>
          <a:prstGeom prst="ellipse">
            <a:avLst/>
          </a:prstGeom>
          <a:solidFill>
            <a:srgbClr val="46B27A"/>
          </a:solidFill>
          <a:ln/>
        </p:spPr>
      </p:sp>
      <p:pic>
        <p:nvPicPr>
          <p:cNvPr id="16" name="Image 3" descr="img/p_gunner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55456" y="4952208"/>
            <a:ext cx="464881" cy="464881"/>
          </a:xfrm>
          <a:prstGeom prst="ellipse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62800" y="457200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Gunner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9052560" y="4572000"/>
            <a:ext cx="2468880" cy="1234440"/>
          </a:xfrm>
          <a:prstGeom prst="roundRect">
            <a:avLst>
              <a:gd name="adj" fmla="val 6667"/>
            </a:avLst>
          </a:prstGeom>
          <a:solidFill>
            <a:srgbClr val="1E232C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9308592" y="4901184"/>
            <a:ext cx="566928" cy="566928"/>
          </a:xfrm>
          <a:prstGeom prst="ellipse">
            <a:avLst/>
          </a:prstGeom>
          <a:solidFill>
            <a:srgbClr val="4C8FD4"/>
          </a:solidFill>
          <a:ln/>
        </p:spPr>
      </p:sp>
      <p:pic>
        <p:nvPicPr>
          <p:cNvPr id="20" name="Image 4" descr="img/p_scout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359616" y="4952208"/>
            <a:ext cx="464881" cy="464881"/>
          </a:xfrm>
          <a:prstGeom prst="ellipse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966960" y="457200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Puneet Pandit</a:t>
            </a:r>
            <a:pPr indent="0" marL="0">
              <a:buNone/>
            </a:pPr>
            <a:r>
              <a:rPr lang="en-US" sz="120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Game &amp; Systems Designer     punitp59@gmail.com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B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ask which gun is best. The better question is smaller.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75688"/>
            <a:ext cx="310896" cy="310896"/>
          </a:xfrm>
          <a:prstGeom prst="ellipse">
            <a:avLst/>
          </a:prstGeom>
          <a:solidFill>
            <a:srgbClr val="4C8F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75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0116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classes, two slots each.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class carries a Primary (main weapon) and a Secondary (sidearm).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401568"/>
            <a:ext cx="310896" cy="310896"/>
          </a:xfrm>
          <a:prstGeom prst="ellipse">
            <a:avLst/>
          </a:prstGeom>
          <a:solidFill>
            <a:srgbClr val="4C8FD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3375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pick 1 of 3 per slot.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each mission you choose one of three options for each slot.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727448"/>
            <a:ext cx="310896" cy="310896"/>
          </a:xfrm>
          <a:prstGeom prst="ellipse">
            <a:avLst/>
          </a:prstGeom>
          <a:solidFill>
            <a:srgbClr val="4C8FD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727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46634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real choice is twice, not once.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never "best of all 24." It is "which of these three," made twice. That is the only comparison the stats can fairly judge.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46520" y="1783080"/>
            <a:ext cx="5074920" cy="4297680"/>
          </a:xfrm>
          <a:prstGeom prst="roundRect">
            <a:avLst>
              <a:gd name="adj" fmla="val 1915"/>
            </a:avLst>
          </a:prstGeom>
          <a:solidFill>
            <a:srgbClr val="1E232C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19476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 </a:t>
            </a:r>
            <a:pPr indent="0" marL="0">
              <a:buNone/>
            </a:pPr>
            <a:r>
              <a:rPr lang="en-US" sz="1400" b="1" dirty="0">
                <a:solidFill>
                  <a:srgbClr val="4C8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Scout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817352" y="1938528"/>
            <a:ext cx="384048" cy="384048"/>
          </a:xfrm>
          <a:prstGeom prst="ellipse">
            <a:avLst/>
          </a:prstGeom>
          <a:solidFill>
            <a:srgbClr val="4C8FD4"/>
          </a:solidFill>
          <a:ln/>
        </p:spPr>
      </p:sp>
      <p:pic>
        <p:nvPicPr>
          <p:cNvPr id="16" name="Image 0" descr="img/p_sco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855757" y="1976933"/>
            <a:ext cx="307238" cy="307238"/>
          </a:xfrm>
          <a:prstGeom prst="ellipse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766560" y="245059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B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 —  PICK ONE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766560" y="2779776"/>
            <a:ext cx="1295400" cy="914400"/>
          </a:xfrm>
          <a:prstGeom prst="roundRect">
            <a:avLst>
              <a:gd name="adj" fmla="val 6000"/>
            </a:avLst>
          </a:prstGeom>
          <a:solidFill>
            <a:srgbClr val="4C8FD4"/>
          </a:solidFill>
          <a:ln w="12700">
            <a:solidFill>
              <a:srgbClr val="4C8FD4"/>
            </a:solidFill>
            <a:prstDash val="solid"/>
          </a:ln>
        </p:spPr>
      </p:sp>
      <p:pic>
        <p:nvPicPr>
          <p:cNvPr id="19" name="Image 1" descr="img/w_marksma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22008" y="2880360"/>
            <a:ext cx="984504" cy="49225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803136" y="3383280"/>
            <a:ext cx="1222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Marksman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rifle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8336280" y="2779776"/>
            <a:ext cx="1295400" cy="914400"/>
          </a:xfrm>
          <a:prstGeom prst="roundRect">
            <a:avLst>
              <a:gd name="adj" fmla="val 6000"/>
            </a:avLst>
          </a:prstGeom>
          <a:solidFill>
            <a:srgbClr val="262C38"/>
          </a:solidFill>
          <a:ln w="12700">
            <a:solidFill>
              <a:srgbClr val="333B49"/>
            </a:solidFill>
            <a:prstDash val="solid"/>
          </a:ln>
        </p:spPr>
      </p:sp>
      <p:pic>
        <p:nvPicPr>
          <p:cNvPr id="22" name="Image 2" descr="img/w_assaul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91728" y="2880360"/>
            <a:ext cx="984504" cy="4922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72856" y="3383280"/>
            <a:ext cx="1222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Assault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rifle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906000" y="2779776"/>
            <a:ext cx="1295400" cy="914400"/>
          </a:xfrm>
          <a:prstGeom prst="roundRect">
            <a:avLst>
              <a:gd name="adj" fmla="val 6000"/>
            </a:avLst>
          </a:prstGeom>
          <a:solidFill>
            <a:srgbClr val="262C38"/>
          </a:solidFill>
          <a:ln w="12700">
            <a:solidFill>
              <a:srgbClr val="333B49"/>
            </a:solidFill>
            <a:prstDash val="solid"/>
          </a:ln>
        </p:spPr>
      </p:sp>
      <p:pic>
        <p:nvPicPr>
          <p:cNvPr id="25" name="Image 3" descr="img/w_plasm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061448" y="2880360"/>
            <a:ext cx="984504" cy="4922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942576" y="3383280"/>
            <a:ext cx="1222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Plasma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carbine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6766560" y="3950208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B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 —  PICK ONE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766560" y="4279392"/>
            <a:ext cx="1295400" cy="914400"/>
          </a:xfrm>
          <a:prstGeom prst="roundRect">
            <a:avLst>
              <a:gd name="adj" fmla="val 6000"/>
            </a:avLst>
          </a:prstGeom>
          <a:solidFill>
            <a:srgbClr val="262C38"/>
          </a:solidFill>
          <a:ln w="12700">
            <a:solidFill>
              <a:srgbClr val="333B49"/>
            </a:solidFill>
            <a:prstDash val="solid"/>
          </a:ln>
        </p:spPr>
      </p:sp>
      <p:pic>
        <p:nvPicPr>
          <p:cNvPr id="29" name="Image 4" descr="img/w_crossbow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22008" y="4379976"/>
            <a:ext cx="984504" cy="49225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803136" y="4882896"/>
            <a:ext cx="1222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Crossbow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8336280" y="4279392"/>
            <a:ext cx="1295400" cy="914400"/>
          </a:xfrm>
          <a:prstGeom prst="roundRect">
            <a:avLst>
              <a:gd name="adj" fmla="val 6000"/>
            </a:avLst>
          </a:prstGeom>
          <a:solidFill>
            <a:srgbClr val="262C38"/>
          </a:solidFill>
          <a:ln w="12700">
            <a:solidFill>
              <a:srgbClr val="333B49"/>
            </a:solidFill>
            <a:prstDash val="solid"/>
          </a:ln>
        </p:spPr>
      </p:sp>
      <p:pic>
        <p:nvPicPr>
          <p:cNvPr id="32" name="Image 5" descr="img/w_sawedoff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491728" y="4379976"/>
            <a:ext cx="984504" cy="49225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72856" y="4882896"/>
            <a:ext cx="1222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Sawed-off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shotgun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9906000" y="4279392"/>
            <a:ext cx="1295400" cy="914400"/>
          </a:xfrm>
          <a:prstGeom prst="roundRect">
            <a:avLst>
              <a:gd name="adj" fmla="val 6000"/>
            </a:avLst>
          </a:prstGeom>
          <a:solidFill>
            <a:srgbClr val="4C8FD4"/>
          </a:solidFill>
          <a:ln w="12700">
            <a:solidFill>
              <a:srgbClr val="4C8FD4"/>
            </a:solidFill>
            <a:prstDash val="solid"/>
          </a:ln>
        </p:spPr>
      </p:sp>
      <p:pic>
        <p:nvPicPr>
          <p:cNvPr id="35" name="Image 6" descr="img/w_dualsmgs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061448" y="4379976"/>
            <a:ext cx="984504" cy="49225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942576" y="4882896"/>
            <a:ext cx="1222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SMGs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6766560" y="541324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real decisions per mission. Multiply by four classes and you get 24 weapons, but never a 24-way comparison.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B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 read the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47288" cy="3703320"/>
          </a:xfrm>
          <a:prstGeom prst="roundRect">
            <a:avLst>
              <a:gd name="adj" fmla="val 2387"/>
            </a:avLst>
          </a:prstGeom>
          <a:solidFill>
            <a:srgbClr val="1E232C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77440"/>
            <a:ext cx="841248" cy="841248"/>
          </a:xfrm>
          <a:prstGeom prst="ellipse">
            <a:avLst/>
          </a:prstGeom>
          <a:solidFill>
            <a:srgbClr val="E0A52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4564" y="2596164"/>
            <a:ext cx="403799" cy="4037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429000"/>
            <a:ext cx="2715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like with like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4114800"/>
            <a:ext cx="2715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weapon is judged only against the other two options in its own class and slot, the real either/or choice a player makes.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57116" y="1965960"/>
            <a:ext cx="3447288" cy="3703320"/>
          </a:xfrm>
          <a:prstGeom prst="roundRect">
            <a:avLst>
              <a:gd name="adj" fmla="val 2387"/>
            </a:avLst>
          </a:prstGeom>
          <a:solidFill>
            <a:srgbClr val="1E232C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22876" y="2377440"/>
            <a:ext cx="841248" cy="841248"/>
          </a:xfrm>
          <a:prstGeom prst="ellipse">
            <a:avLst/>
          </a:prstGeom>
          <a:solidFill>
            <a:srgbClr val="46B27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600" y="2596164"/>
            <a:ext cx="403799" cy="4037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22876" y="3429000"/>
            <a:ext cx="2715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honest yardstick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722876" y="4114800"/>
            <a:ext cx="2715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comparable number: shots-per-second damage = fire rate x damage per hit, worked out the same way for all 24 weapons.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74152" y="1965960"/>
            <a:ext cx="3447288" cy="3703320"/>
          </a:xfrm>
          <a:prstGeom prst="roundRect">
            <a:avLst>
              <a:gd name="adj" fmla="val 2387"/>
            </a:avLst>
          </a:prstGeom>
          <a:solidFill>
            <a:srgbClr val="1E232C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9912" y="2377440"/>
            <a:ext cx="841248" cy="841248"/>
          </a:xfrm>
          <a:prstGeom prst="ellipse">
            <a:avLst/>
          </a:prstGeom>
          <a:solidFill>
            <a:srgbClr val="4C8FD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636" y="2596164"/>
            <a:ext cx="403799" cy="40379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9912" y="3429000"/>
            <a:ext cx="2715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 is not crowd control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39912" y="4114800"/>
            <a:ext cx="27157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Freeze, stun and slow are tracked in their own column, never folded into the damage score. A low-damage weapon can still earn its slot.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B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NUMBERS SHOW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weapons cluster. Only three break away.</a:t>
            </a:r>
            <a:endParaRPr lang="en-US" sz="2800" dirty="0"/>
          </a:p>
        </p:txBody>
      </p:sp>
      <p:pic>
        <p:nvPicPr>
          <p:cNvPr id="4" name="Image 0" descr="dps_char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6595437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18397" y="1965960"/>
            <a:ext cx="4130475" cy="4023360"/>
          </a:xfrm>
          <a:prstGeom prst="roundRect">
            <a:avLst>
              <a:gd name="adj" fmla="val 2045"/>
            </a:avLst>
          </a:prstGeom>
          <a:solidFill>
            <a:srgbClr val="1E232C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692717" y="2240280"/>
            <a:ext cx="35818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EFB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three outliers don't mean what they look like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692717" y="3200400"/>
            <a:ext cx="35818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cannon, laser cutter and marksman rifle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all charge- or burst-fire weapons.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692717" y="4114800"/>
            <a:ext cx="35818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formula assumes they fire flat out, which they physically can't, so it overrates them. That is the main reason a single damage score is a poor way to judge balance.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B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eight slots fall into three groups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47288" cy="3840480"/>
          </a:xfrm>
          <a:prstGeom prst="roundRect">
            <a:avLst>
              <a:gd name="adj" fmla="val 2387"/>
            </a:avLst>
          </a:prstGeom>
          <a:solidFill>
            <a:srgbClr val="1E232C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331720"/>
            <a:ext cx="603504" cy="603504"/>
          </a:xfrm>
          <a:prstGeom prst="ellipse">
            <a:avLst/>
          </a:prstGeom>
          <a:solidFill>
            <a:srgbClr val="46B27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3317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2715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balanced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3977640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6B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slots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4361688"/>
            <a:ext cx="27157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genuine choices. The options differ by role, range and crowd control, not by raw power.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57116" y="1965960"/>
            <a:ext cx="3447288" cy="3840480"/>
          </a:xfrm>
          <a:prstGeom prst="roundRect">
            <a:avLst>
              <a:gd name="adj" fmla="val 2387"/>
            </a:avLst>
          </a:prstGeom>
          <a:solidFill>
            <a:srgbClr val="1E232C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2876" y="2331720"/>
            <a:ext cx="603504" cy="603504"/>
          </a:xfrm>
          <a:prstGeom prst="ellipse">
            <a:avLst/>
          </a:prstGeom>
          <a:solidFill>
            <a:srgbClr val="E0A52E"/>
          </a:solidFill>
          <a:ln/>
        </p:spPr>
      </p:sp>
      <p:sp>
        <p:nvSpPr>
          <p:cNvPr id="12" name="Text 10"/>
          <p:cNvSpPr/>
          <p:nvPr/>
        </p:nvSpPr>
        <p:spPr>
          <a:xfrm>
            <a:off x="4722876" y="23317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22876" y="3108960"/>
            <a:ext cx="2715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 dominant, but the number lies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722876" y="3977640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A5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cannon · Laser cutter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22876" y="4361688"/>
            <a:ext cx="27157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artifacts. The huge gap mostly vanishes once you correct for how these weapons actually fire.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74152" y="1965960"/>
            <a:ext cx="3447288" cy="3840480"/>
          </a:xfrm>
          <a:prstGeom prst="roundRect">
            <a:avLst>
              <a:gd name="adj" fmla="val 2387"/>
            </a:avLst>
          </a:prstGeom>
          <a:solidFill>
            <a:srgbClr val="262C38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74152" y="1965960"/>
            <a:ext cx="3447288" cy="3840480"/>
          </a:xfrm>
          <a:prstGeom prst="roundRect">
            <a:avLst>
              <a:gd name="adj" fmla="val 2387"/>
            </a:avLst>
          </a:prstGeom>
          <a:ln w="25400">
            <a:solidFill>
              <a:srgbClr val="4C8F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39912" y="2331720"/>
            <a:ext cx="603504" cy="603504"/>
          </a:xfrm>
          <a:prstGeom prst="ellipse">
            <a:avLst/>
          </a:prstGeom>
          <a:solidFill>
            <a:srgbClr val="4C8FD4"/>
          </a:solidFill>
          <a:ln/>
        </p:spPr>
      </p:sp>
      <p:sp>
        <p:nvSpPr>
          <p:cNvPr id="19" name="Text 17"/>
          <p:cNvSpPr/>
          <p:nvPr/>
        </p:nvSpPr>
        <p:spPr>
          <a:xfrm>
            <a:off x="8439912" y="23317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71432" y="2441448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C8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FINDING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39912" y="3108960"/>
            <a:ext cx="27157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genuinely leads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439912" y="3977640"/>
            <a:ext cx="2715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C8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 marksman rifle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39912" y="4361688"/>
            <a:ext cx="271576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ahead even after correcting for the same effect. This slot has a default pick, not a real choice.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C8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Scout's primary slot has a default, not a choice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971800" cy="3246120"/>
          </a:xfrm>
          <a:prstGeom prst="roundRect">
            <a:avLst>
              <a:gd name="adj" fmla="val 2769"/>
            </a:avLst>
          </a:prstGeom>
          <a:solidFill>
            <a:srgbClr val="1E232C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39596" y="2167128"/>
            <a:ext cx="1572768" cy="1572768"/>
          </a:xfrm>
          <a:prstGeom prst="ellipse">
            <a:avLst/>
          </a:prstGeom>
          <a:solidFill>
            <a:srgbClr val="4C8FD4"/>
          </a:solidFill>
          <a:ln/>
        </p:spPr>
      </p:sp>
      <p:pic>
        <p:nvPicPr>
          <p:cNvPr id="6" name="Image 0" descr="img/scout_ar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9632" y="2093976"/>
            <a:ext cx="1312697" cy="21396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4805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977640" y="1783080"/>
            <a:ext cx="7571232" cy="987552"/>
          </a:xfrm>
          <a:prstGeom prst="roundRect">
            <a:avLst>
              <a:gd name="adj" fmla="val 8333"/>
            </a:avLst>
          </a:prstGeom>
          <a:solidFill>
            <a:srgbClr val="262C38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977640" y="1783080"/>
            <a:ext cx="7571232" cy="987552"/>
          </a:xfrm>
          <a:prstGeom prst="roundRect">
            <a:avLst>
              <a:gd name="adj" fmla="val 8333"/>
            </a:avLst>
          </a:prstGeom>
          <a:ln w="25400">
            <a:solidFill>
              <a:srgbClr val="4C8F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42232" y="1956816"/>
            <a:ext cx="1051560" cy="640080"/>
          </a:xfrm>
          <a:prstGeom prst="roundRect">
            <a:avLst>
              <a:gd name="adj" fmla="val 8571"/>
            </a:avLst>
          </a:prstGeom>
          <a:solidFill>
            <a:srgbClr val="171B22"/>
          </a:solidFill>
          <a:ln w="12700">
            <a:solidFill>
              <a:srgbClr val="333B49"/>
            </a:solidFill>
            <a:prstDash val="solid"/>
          </a:ln>
        </p:spPr>
      </p:sp>
      <p:pic>
        <p:nvPicPr>
          <p:cNvPr id="11" name="Image 1" descr="img/w_marksma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15384" y="2050542"/>
            <a:ext cx="905256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901952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Marksman rifle  </a:t>
            </a:r>
            <a:pPr indent="0" marL="0">
              <a:buNone/>
            </a:pPr>
            <a:r>
              <a:rPr lang="en-US" sz="1050" i="1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M1000 Classic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349240" y="2203704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after discounting the inflated figure, it still leads on damage per shot, reach and reliability.</a:t>
            </a:r>
            <a:endParaRPr lang="en-US" sz="1080" dirty="0"/>
          </a:p>
        </p:txBody>
      </p:sp>
      <p:sp>
        <p:nvSpPr>
          <p:cNvPr id="14" name="Text 10"/>
          <p:cNvSpPr/>
          <p:nvPr/>
        </p:nvSpPr>
        <p:spPr>
          <a:xfrm>
            <a:off x="9857232" y="1856232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4C8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9857232" y="2468880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shots/sec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3977640" y="2916936"/>
            <a:ext cx="7571232" cy="987552"/>
          </a:xfrm>
          <a:prstGeom prst="roundRect">
            <a:avLst>
              <a:gd name="adj" fmla="val 8333"/>
            </a:avLst>
          </a:prstGeom>
          <a:solidFill>
            <a:srgbClr val="1E232C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142232" y="3090672"/>
            <a:ext cx="1051560" cy="640080"/>
          </a:xfrm>
          <a:prstGeom prst="roundRect">
            <a:avLst>
              <a:gd name="adj" fmla="val 8571"/>
            </a:avLst>
          </a:prstGeom>
          <a:solidFill>
            <a:srgbClr val="171B22"/>
          </a:solidFill>
          <a:ln w="12700">
            <a:solidFill>
              <a:srgbClr val="333B49"/>
            </a:solidFill>
            <a:prstDash val="solid"/>
          </a:ln>
        </p:spPr>
      </p:sp>
      <p:pic>
        <p:nvPicPr>
          <p:cNvPr id="18" name="Image 2" descr="img/w_assault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215384" y="3184398"/>
            <a:ext cx="905256" cy="4526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49240" y="3035808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Assault rifle  </a:t>
            </a:r>
            <a:pPr indent="0" marL="0">
              <a:buNone/>
            </a:pPr>
            <a:r>
              <a:rPr lang="en-US" sz="1050" i="1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Deepcore GK2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349240" y="3337560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solid all-rounder but offers no clear reason to pick it over the rifle.</a:t>
            </a:r>
            <a:endParaRPr lang="en-US" sz="1080" dirty="0"/>
          </a:p>
        </p:txBody>
      </p:sp>
      <p:sp>
        <p:nvSpPr>
          <p:cNvPr id="21" name="Text 16"/>
          <p:cNvSpPr/>
          <p:nvPr/>
        </p:nvSpPr>
        <p:spPr>
          <a:xfrm>
            <a:off x="9857232" y="2990088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2800" dirty="0"/>
          </a:p>
        </p:txBody>
      </p:sp>
      <p:sp>
        <p:nvSpPr>
          <p:cNvPr id="22" name="Text 17"/>
          <p:cNvSpPr/>
          <p:nvPr/>
        </p:nvSpPr>
        <p:spPr>
          <a:xfrm>
            <a:off x="9857232" y="360273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shots/sec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3977640" y="4050792"/>
            <a:ext cx="7571232" cy="987552"/>
          </a:xfrm>
          <a:prstGeom prst="roundRect">
            <a:avLst>
              <a:gd name="adj" fmla="val 8333"/>
            </a:avLst>
          </a:prstGeom>
          <a:solidFill>
            <a:srgbClr val="1E232C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142232" y="4224528"/>
            <a:ext cx="1051560" cy="640080"/>
          </a:xfrm>
          <a:prstGeom prst="roundRect">
            <a:avLst>
              <a:gd name="adj" fmla="val 8571"/>
            </a:avLst>
          </a:prstGeom>
          <a:solidFill>
            <a:srgbClr val="171B22"/>
          </a:solidFill>
          <a:ln w="12700">
            <a:solidFill>
              <a:srgbClr val="333B49"/>
            </a:solidFill>
            <a:prstDash val="solid"/>
          </a:ln>
        </p:spPr>
      </p:sp>
      <p:pic>
        <p:nvPicPr>
          <p:cNvPr id="25" name="Image 3" descr="img/w_plasm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15384" y="4318254"/>
            <a:ext cx="905256" cy="45262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49240" y="4169664"/>
            <a:ext cx="4370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Plasma carbine  </a:t>
            </a:r>
            <a:pPr indent="0" marL="0">
              <a:buNone/>
            </a:pPr>
            <a:r>
              <a:rPr lang="en-US" sz="1050" i="1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DRAK-25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349240" y="4471416"/>
            <a:ext cx="4370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damage over time yet trails badly on the headline number.</a:t>
            </a:r>
            <a:endParaRPr lang="en-US" sz="1080" dirty="0"/>
          </a:p>
        </p:txBody>
      </p:sp>
      <p:sp>
        <p:nvSpPr>
          <p:cNvPr id="28" name="Text 22"/>
          <p:cNvSpPr/>
          <p:nvPr/>
        </p:nvSpPr>
        <p:spPr>
          <a:xfrm>
            <a:off x="9857232" y="4123944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</a:t>
            </a:r>
            <a:endParaRPr lang="en-US" sz="2800" dirty="0"/>
          </a:p>
        </p:txBody>
      </p:sp>
      <p:sp>
        <p:nvSpPr>
          <p:cNvPr id="29" name="Text 23"/>
          <p:cNvSpPr/>
          <p:nvPr/>
        </p:nvSpPr>
        <p:spPr>
          <a:xfrm>
            <a:off x="9857232" y="473659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C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shots/sec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640080" y="52578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EFB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the GK2 and DRAK-25's effective output rather than nerf the M1000. Keep its precision identity. Confirm against pick-rate data before shipping.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B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 owned the balance pass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298448"/>
          </a:xfrm>
          <a:prstGeom prst="roundRect">
            <a:avLst>
              <a:gd name="adj" fmla="val 6338"/>
            </a:avLst>
          </a:prstGeom>
          <a:solidFill>
            <a:srgbClr val="1E232C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85416"/>
            <a:ext cx="768096" cy="768096"/>
          </a:xfrm>
          <a:prstGeom prst="ellipse">
            <a:avLst/>
          </a:prstGeom>
          <a:solidFill>
            <a:srgbClr val="4C8FD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85416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011680" y="21031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the Scout primary slot first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2011680" y="2487168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slot where the data points to a genuine problem. Buff the two alternatives' effective output instead of nerfing the marksman rifle, and pull pick-rate and kill data before shipping anything.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419856"/>
            <a:ext cx="10881360" cy="1298448"/>
          </a:xfrm>
          <a:prstGeom prst="roundRect">
            <a:avLst>
              <a:gd name="adj" fmla="val 6338"/>
            </a:avLst>
          </a:prstGeom>
          <a:solidFill>
            <a:srgbClr val="1E232C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685032"/>
            <a:ext cx="768096" cy="768096"/>
          </a:xfrm>
          <a:prstGeom prst="ellipse">
            <a:avLst/>
          </a:prstGeom>
          <a:solidFill>
            <a:srgbClr val="E0594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8503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011680" y="3602736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the electric SMG, don't yet touch it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011680" y="398678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matches its slot-mates on damage (99 vs 105 and 112) yet feels weakest. When damage is fine but the weapon feels weak, the cause is usually elsewhere: look at its effect and ammo, not its damage.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919472"/>
            <a:ext cx="10881360" cy="1298448"/>
          </a:xfrm>
          <a:prstGeom prst="roundRect">
            <a:avLst>
              <a:gd name="adj" fmla="val 6338"/>
            </a:avLst>
          </a:prstGeom>
          <a:solidFill>
            <a:srgbClr val="1E232C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5184648"/>
            <a:ext cx="768096" cy="768096"/>
          </a:xfrm>
          <a:prstGeom prst="ellipse">
            <a:avLst/>
          </a:prstGeom>
          <a:solidFill>
            <a:srgbClr val="46B27A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184648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011680" y="510235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the other six slots alone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2011680" y="5486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are either balanced or only look skewed because of the measurement quirk. Changing them would fix a problem that isn't there. Knowing when not to act is part of the job.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FB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 are a starting point, not a verdict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3200400"/>
          </a:xfrm>
          <a:prstGeom prst="roundRect">
            <a:avLst>
              <a:gd name="adj" fmla="val 2571"/>
            </a:avLst>
          </a:prstGeom>
          <a:solidFill>
            <a:srgbClr val="1E232C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40280"/>
            <a:ext cx="640080" cy="640080"/>
          </a:xfrm>
          <a:prstGeom prst="ellipse">
            <a:avLst/>
          </a:prstGeom>
          <a:solidFill>
            <a:srgbClr val="262C3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9459" y="23938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4028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stats can't see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3063240"/>
            <a:ext cx="4434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and spread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and wind-up time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Hitting enemy weak points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damage to frozen enemies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Ammo across a full mission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players actually use each gun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920240"/>
            <a:ext cx="5257800" cy="3200400"/>
          </a:xfrm>
          <a:prstGeom prst="roundRect">
            <a:avLst>
              <a:gd name="adj" fmla="val 2571"/>
            </a:avLst>
          </a:prstGeom>
          <a:solidFill>
            <a:srgbClr val="1E232C"/>
          </a:solidFill>
          <a:ln w="12700">
            <a:solidFill>
              <a:srgbClr val="333B4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240280"/>
            <a:ext cx="640080" cy="640080"/>
          </a:xfrm>
          <a:prstGeom prst="ellipse">
            <a:avLst/>
          </a:prstGeom>
          <a:solidFill>
            <a:srgbClr val="262C3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019" y="23938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4028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I'd pull with telemetry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720840" y="306324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 pick-rates by slot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damage and kills per weapon, per mission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New-player vs experienced-player splits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720840" y="457200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EFB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data would confirm or kill every hypothesis here.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Puneet Pandit</a:t>
            </a:r>
            <a:pPr indent="0" marL="0">
              <a:buNone/>
            </a:pPr>
            <a:r>
              <a:rPr lang="en-US" sz="1150" dirty="0">
                <a:solidFill>
                  <a:srgbClr val="9AA2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Game &amp; Systems Designer     punitp59@gmail.com     linkedin.com/in/puneet-pandit-gamedesigner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Rock Galactic: Weapon Balance</dc:title>
  <dc:subject>PptxGenJS Presentation</dc:subject>
  <dc:creator>Puneet Pandit</dc:creator>
  <cp:lastModifiedBy>Puneet Pandit</cp:lastModifiedBy>
  <cp:revision>1</cp:revision>
  <dcterms:created xsi:type="dcterms:W3CDTF">2026-06-25T06:54:07Z</dcterms:created>
  <dcterms:modified xsi:type="dcterms:W3CDTF">2026-06-25T06:54:07Z</dcterms:modified>
</cp:coreProperties>
</file>